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2885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0"/>
            <a:ext cx="320040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73152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2194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" y="2606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2880" y="3017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 err="1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r>
              <a:rPr lang="en-US" sz="100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intelligence </a:t>
            </a:r>
            <a:r>
              <a:rPr lang="en-US" sz="1000" i="1" dirty="0" err="1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artificielle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2880" y="4480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/ 2025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474720" y="10972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Bancaire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3474720" y="19202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Prédiction du Montant de Crédit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74720" y="2697480"/>
            <a:ext cx="2286000" cy="5486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0" y="2880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appliqué au risque crédit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L'importance du crédit bancaire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265176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325880"/>
            <a:ext cx="640080" cy="6400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1362456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 Bancaire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468880"/>
            <a:ext cx="23774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l'économie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de projets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 stratégique majeur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143000"/>
            <a:ext cx="265176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325880"/>
            <a:ext cx="640080" cy="6400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362456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4612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Crédit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291840" y="2468880"/>
            <a:ext cx="23774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Défauts de paiement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Pertes financières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sur la stabilité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8932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989320" y="1143000"/>
            <a:ext cx="265176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95160" y="1325880"/>
            <a:ext cx="640080" cy="6400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1362456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8076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du Scoring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126480" y="2468880"/>
            <a:ext cx="23774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la solvabilité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automatisées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 risque humain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91440" cy="12801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Peut-on prédire avec précision le montant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crédit accordé à un client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651760"/>
            <a:ext cx="402336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700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Banque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l'octroi de crédit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les risques de défaut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les décisions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65176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651760"/>
            <a:ext cx="402336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6700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Client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15468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personnalisées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 du processus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facilité au crédit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01168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188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23444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05840" y="2057400"/>
            <a:ext cx="640080" cy="6400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08483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11480" y="329184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et comprendre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clients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468880" y="114300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468880" y="1143000"/>
            <a:ext cx="201168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42032" y="1188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234440"/>
            <a:ext cx="457200" cy="4572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154680" y="2057400"/>
            <a:ext cx="640080" cy="6400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2084832"/>
            <a:ext cx="493776" cy="4937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56032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2560320" y="329184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des modèles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régression avancés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617720" y="114300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617720" y="1143000"/>
            <a:ext cx="201168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690872" y="1188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23444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303520" y="2057400"/>
            <a:ext cx="640080" cy="6400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2084832"/>
            <a:ext cx="493776" cy="49377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70916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4709160" y="329184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les performances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chaque modèle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766560" y="114300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766560" y="1143000"/>
            <a:ext cx="201168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839712" y="1188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1234440"/>
            <a:ext cx="457200" cy="45720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7452360" y="2057400"/>
            <a:ext cx="640080" cy="6400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512" y="2084832"/>
            <a:ext cx="493776" cy="49377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85800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</a:t>
            </a:r>
            <a:endParaRPr lang="en-US" sz="1500" dirty="0"/>
          </a:p>
        </p:txBody>
      </p:sp>
      <p:sp>
        <p:nvSpPr>
          <p:cNvPr id="36" name="Text 26"/>
          <p:cNvSpPr/>
          <p:nvPr/>
        </p:nvSpPr>
        <p:spPr>
          <a:xfrm>
            <a:off x="6858000" y="329184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Estimer le montant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crédit optimal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Utilisées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Kaggle — adapté au contexte marocain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56032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88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1938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54680" y="1143000"/>
            <a:ext cx="256032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188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00400" y="1938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1143000"/>
            <a:ext cx="256032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188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035040" y="1938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de source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6334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Clés 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4251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63240"/>
            <a:ext cx="73152" cy="7772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90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Financières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410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Revenus, montant demandé, historique crédit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4251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063240"/>
            <a:ext cx="73152" cy="7772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090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Démographiques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410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Genre, statut marital, niveau d'études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977640"/>
            <a:ext cx="4251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977640"/>
            <a:ext cx="73152" cy="7772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005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Géographiques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325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urbaine / semi-urbaine / rurale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977640"/>
            <a:ext cx="4251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977640"/>
            <a:ext cx="73152" cy="7772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4005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Patrimoniales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83480" y="4325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immobilier, nombre de personnes à charge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des Données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100584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52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745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2161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16459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doublons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des types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cohérence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143000"/>
            <a:ext cx="100584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1252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8745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06440" y="12161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806440" y="16459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par la médiane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pour catégorielles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: &lt; 8%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" y="30175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3017520"/>
            <a:ext cx="100584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31272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74904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30906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417320" y="3520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(binaire)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(multinomiale)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ranges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09160" y="30175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3017520"/>
            <a:ext cx="100584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54880" y="31272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74904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806440" y="30906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Log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806440" y="3520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 skewed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Log(montant) appliqué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normalisée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de Machine Learning Utilisés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011680" cy="10058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043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389888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860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4048" y="2834640"/>
            <a:ext cx="1883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référence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et interprétable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68880" y="114300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1143000"/>
            <a:ext cx="2011680" cy="100584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32888" y="117043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532888" y="1389888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2860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32888" y="2834640"/>
            <a:ext cx="1883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Pénalité L2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la variance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17720" y="114300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17720" y="1143000"/>
            <a:ext cx="2011680" cy="100584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81728" y="117043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681728" y="1389888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16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28600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81728" y="2834640"/>
            <a:ext cx="1883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Pénalité L1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de variables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766560" y="114300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66560" y="1143000"/>
            <a:ext cx="201168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830568" y="117043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L1+L2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830568" y="1389888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</a:t>
            </a:r>
            <a:endParaRPr lang="en-US" sz="16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28600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30568" y="2834640"/>
            <a:ext cx="1883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Combinaison Ridge + Lasso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robuste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E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modèles ont été évalués avec validation croisée 5-fold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des Modèles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— Coefficient de détermination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1581912"/>
            <a:ext cx="3657600" cy="310896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1581912"/>
            <a:ext cx="1817827" cy="31089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508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37360" y="2221992"/>
            <a:ext cx="3657600" cy="310896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2221992"/>
            <a:ext cx="1825142" cy="310896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148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2862072"/>
            <a:ext cx="3657600" cy="310896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2862072"/>
            <a:ext cx="1836115" cy="310896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2788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429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37360" y="3502152"/>
            <a:ext cx="3657600" cy="310896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37360" y="3502152"/>
            <a:ext cx="182880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3429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1097280"/>
            <a:ext cx="2606040" cy="3291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9360" y="1188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Moyenne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1645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22 000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309360" y="2423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83680" y="2880360"/>
            <a:ext cx="1828800" cy="3657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9992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0.50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341071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E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modèles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E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performent de façon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E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similaire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Les 4 modèles donnent des résultats comparables — la différence est marginale.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Clés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influençant le montant de crédit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51760" cy="36118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25880" y="1417320"/>
            <a:ext cx="594360" cy="5943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1444752"/>
            <a:ext cx="448056" cy="4480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du ménage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697480"/>
            <a:ext cx="731520" cy="45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83464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la plus prédictive.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forte avec le montant accordé.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54680" y="1143000"/>
            <a:ext cx="2651760" cy="36118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46120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4160520" y="1417320"/>
            <a:ext cx="594360" cy="5943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1444752"/>
            <a:ext cx="448056" cy="4480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9184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 crédit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3291840" y="2697480"/>
            <a:ext cx="7315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91840" y="283464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significatif.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avec historique positif → crédit plus élevé.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989320" y="1143000"/>
            <a:ext cx="2651760" cy="36118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080760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3200" dirty="0"/>
          </a:p>
        </p:txBody>
      </p:sp>
      <p:sp>
        <p:nvSpPr>
          <p:cNvPr id="22" name="Shape 18"/>
          <p:cNvSpPr/>
          <p:nvPr/>
        </p:nvSpPr>
        <p:spPr>
          <a:xfrm>
            <a:off x="6995160" y="1417320"/>
            <a:ext cx="594360" cy="5943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1444752"/>
            <a:ext cx="448056" cy="4480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2648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géographique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6126480" y="2697480"/>
            <a:ext cx="7315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126480" y="283464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urbaine favorise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montants plus importants.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Pratique — Simulation Client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931920" cy="3566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393192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Client Type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78308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651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mensuel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60320" y="2651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8 500 MAD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30358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marital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560320" y="30358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Marié(e)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34198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560320" y="34198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Urbaine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38039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crédit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560320" y="38039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Positif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" y="41879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 à charge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560320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343400" y="2743200"/>
            <a:ext cx="365760" cy="1097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976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8"/>
          <p:cNvSpPr/>
          <p:nvPr/>
        </p:nvSpPr>
        <p:spPr>
          <a:xfrm>
            <a:off x="4892040" y="114300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92040" y="1143000"/>
            <a:ext cx="393192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0" y="11704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du Modèle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029200" y="1691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5029200" y="2240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165 000</a:t>
            </a:r>
            <a:endParaRPr lang="en-US" sz="5200" dirty="0"/>
          </a:p>
        </p:txBody>
      </p:sp>
      <p:sp>
        <p:nvSpPr>
          <p:cNvPr id="26" name="Text 23"/>
          <p:cNvSpPr/>
          <p:nvPr/>
        </p:nvSpPr>
        <p:spPr>
          <a:xfrm>
            <a:off x="5029200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669280" y="3703320"/>
            <a:ext cx="2377440" cy="45720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0" y="3822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de crédit estimé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du Projet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5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6517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371600"/>
            <a:ext cx="640080" cy="640080"/>
          </a:xfrm>
          <a:prstGeom prst="ellipse">
            <a:avLst/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1408176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Limitées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97280" y="2651760"/>
            <a:ext cx="109728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7889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614 observations seulement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Insuffisant pour des modèles complexes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possible de l'échantillon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5468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5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143000"/>
            <a:ext cx="26517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371600"/>
            <a:ext cx="640080" cy="640080"/>
          </a:xfrm>
          <a:prstGeom prst="ellipse">
            <a:avLst/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408176"/>
            <a:ext cx="512064" cy="5120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9184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Linéaire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931920" y="2651760"/>
            <a:ext cx="109728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91840" y="27889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de linéarité restrictive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non-linéaires ignorées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0.50 reste modéré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98932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5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989320" y="1143000"/>
            <a:ext cx="26517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995160" y="1371600"/>
            <a:ext cx="640080" cy="640080"/>
          </a:xfrm>
          <a:prstGeom prst="ellipse">
            <a:avLst/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1408176"/>
            <a:ext cx="512064" cy="5120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2648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Manquantes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766560" y="2651760"/>
            <a:ext cx="109728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126480" y="27889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comportementales absentes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bancaire incomplet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crédit non disponible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749808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685800" cy="749808"/>
          </a:xfrm>
          <a:prstGeom prst="rect">
            <a:avLst/>
          </a:prstGeom>
          <a:solidFill>
            <a:srgbClr val="3A5E7A"/>
          </a:solidFill>
          <a:ln w="12700">
            <a:solidFill>
              <a:srgbClr val="3A5E7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43584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14300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de scoring fonctionnel et utile pour la banque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1984248"/>
            <a:ext cx="8412480" cy="7498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984248"/>
            <a:ext cx="685800" cy="749808"/>
          </a:xfrm>
          <a:prstGeom prst="rect">
            <a:avLst/>
          </a:prstGeom>
          <a:solidFill>
            <a:srgbClr val="3A5E7A"/>
          </a:solidFill>
          <a:ln w="12700">
            <a:solidFill>
              <a:srgbClr val="3A5E7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13055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202996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et historique : variables déterminantes identifiées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65760" y="2871216"/>
            <a:ext cx="841248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5760" y="2871216"/>
            <a:ext cx="685800" cy="749808"/>
          </a:xfrm>
          <a:prstGeom prst="rect">
            <a:avLst/>
          </a:prstGeom>
          <a:solidFill>
            <a:srgbClr val="3A5E7A"/>
          </a:solidFill>
          <a:ln w="12700">
            <a:solidFill>
              <a:srgbClr val="3A5E7A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017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70432" y="2916936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: données réduites et linéarité du modèle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65760" y="3758184"/>
            <a:ext cx="8412480" cy="74980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65760" y="3758184"/>
            <a:ext cx="685800" cy="749808"/>
          </a:xfrm>
          <a:prstGeom prst="rect">
            <a:avLst/>
          </a:prstGeom>
          <a:solidFill>
            <a:srgbClr val="3A5E7A"/>
          </a:solidFill>
          <a:ln w="12700">
            <a:solidFill>
              <a:srgbClr val="3A5E7A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904488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70432" y="380390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d'amélioration : Random Forest, XGBoost, Deep Learning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E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Bancaire &amp; Prédiction du Montant de Crédit  •  ENCG  •  2024/2025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Microsoft Office PowerPoint</Application>
  <PresentationFormat>Affichage à l'écran (16:9)</PresentationFormat>
  <Paragraphs>187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Scoring Bancaire &amp; Prédiction du Montant de Crédit</dc:title>
  <dc:subject>PptxGenJS Presentation</dc:subject>
  <dc:creator>PptxGenJS</dc:creator>
  <cp:lastModifiedBy>jaoui ichrak</cp:lastModifiedBy>
  <cp:revision>2</cp:revision>
  <dcterms:created xsi:type="dcterms:W3CDTF">2026-03-27T19:16:50Z</dcterms:created>
  <dcterms:modified xsi:type="dcterms:W3CDTF">2026-03-27T19:22:15Z</dcterms:modified>
</cp:coreProperties>
</file>